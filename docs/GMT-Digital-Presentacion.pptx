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B4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283464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mt-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24128"/>
            <a:ext cx="205945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9BCE6"/>
                </a:solidFill>
                <a:latin typeface="Segoe UI"/>
              </a:rPr>
              <a:t>PLAN DE DIGITALIZACIÓN DE PROCESOS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GMT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8686800" cy="644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dirty="0" err="1">
                <a:solidFill>
                  <a:srgbClr val="D3D5EE"/>
                </a:solidFill>
                <a:latin typeface="Segoe UI"/>
              </a:rPr>
              <a:t>Llevamos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la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operación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de GMT a </a:t>
            </a:r>
            <a:r>
              <a:rPr sz="1700" b="1" dirty="0">
                <a:solidFill>
                  <a:srgbClr val="D3D5EE"/>
                </a:solidFill>
                <a:latin typeface="Segoe UI"/>
              </a:rPr>
              <a:t>un solo </a:t>
            </a:r>
            <a:r>
              <a:rPr sz="1700" b="1" dirty="0" err="1">
                <a:solidFill>
                  <a:srgbClr val="D3D5EE"/>
                </a:solidFill>
                <a:latin typeface="Segoe UI"/>
              </a:rPr>
              <a:t>lugar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: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finanzas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proyectos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recursos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y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terreno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. Se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construye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por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etapas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, se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prueba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en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cada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una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y se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corrige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 antes de </a:t>
            </a:r>
            <a:r>
              <a:rPr sz="1700" b="0" dirty="0" err="1">
                <a:solidFill>
                  <a:srgbClr val="D3D5EE"/>
                </a:solidFill>
                <a:latin typeface="Segoe UI"/>
              </a:rPr>
              <a:t>seguir</a:t>
            </a:r>
            <a:r>
              <a:rPr sz="1700" b="0" dirty="0">
                <a:solidFill>
                  <a:srgbClr val="D3D5EE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825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7C9EC"/>
                </a:solidFill>
                <a:latin typeface="Segoe UI"/>
              </a:rPr>
              <a:t>GMT Link  +  V-Metric   ·   MVP en pruebas   ·   Documento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QUÉ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Dos herramientas, un ecosistema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976"/>
                </a:solidFill>
                <a:latin typeface="Segoe UI"/>
              </a:rPr>
              <a:t>GMT Digital reúne dos sistemas que hoy trabajan por separado o en papel.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1216152" cy="292608"/>
          </a:xfrm>
          <a:prstGeom prst="roundRect">
            <a:avLst/>
          </a:prstGeom>
          <a:solidFill>
            <a:srgbClr val="E7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00" b="1">
                <a:solidFill>
                  <a:srgbClr val="2A2E63"/>
                </a:solidFill>
                <a:latin typeface="Segoe UI"/>
              </a:rPr>
              <a:t>PLATAFORMA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A2E63"/>
                </a:solidFill>
                <a:latin typeface="Segoe UI"/>
              </a:rPr>
              <a:t>GMT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46634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400" b="0">
                <a:solidFill>
                  <a:srgbClr val="555976"/>
                </a:solidFill>
                <a:latin typeface="Segoe UI"/>
              </a:rPr>
              <a:t>La gestión diaria de la empresa: reembolsos y horas extra, cartera de proyectos y faenas, vehículos y checklists, personas y permisos.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400" b="0">
                <a:solidFill>
                  <a:srgbClr val="555976"/>
                </a:solidFill>
                <a:latin typeface="Segoe UI"/>
              </a:rPr>
              <a:t>Se entra con usuario y contraseña desde el navegador, en cualquier equipo.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37744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2651760"/>
            <a:ext cx="1760220" cy="292608"/>
          </a:xfrm>
          <a:prstGeom prst="round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00" b="1">
                <a:solidFill>
                  <a:srgbClr val="B5842B"/>
                </a:solidFill>
                <a:latin typeface="Segoe UI"/>
              </a:rPr>
              <a:t>APLICACIÓN DE TERRENO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0632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A2E63"/>
                </a:solidFill>
                <a:latin typeface="Segoe UI"/>
              </a:rPr>
              <a:t>V-Metric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03320"/>
            <a:ext cx="46634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400" b="0">
                <a:solidFill>
                  <a:srgbClr val="555976"/>
                </a:solidFill>
                <a:latin typeface="Segoe UI"/>
              </a:rPr>
              <a:t>El cubicador de pozas: calcula volúmenes de reservorios a partir de topografía (modelos de elevación).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400" b="0">
                <a:solidFill>
                  <a:srgbClr val="555976"/>
                </a:solidFill>
                <a:latin typeface="Segoe UI"/>
              </a:rPr>
              <a:t>Guarda cada medición y las centraliza en el mismo servidor que GMT 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ESTE PRIMER ENTREGABLE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El MVP que probaremos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976"/>
                </a:solidFill>
                <a:latin typeface="Segoe UI"/>
              </a:rPr>
              <a:t>Una versión real, en la nube, con cuentas de prueba (una por rol) para revisar los flujos antes de dar de alta a las personas reales.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2514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2514600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83464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A2E63"/>
                </a:solidFill>
                <a:latin typeface="Segoe UI"/>
              </a:rPr>
              <a:t>Finanzas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29000"/>
            <a:ext cx="211226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55976"/>
                </a:solidFill>
                <a:latin typeface="Segoe UI"/>
              </a:rPr>
              <a:t>Reembolsos con lectura automática de boletas, horas extra, aprobaciones, pagos e impresión.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514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02152" y="2514600"/>
            <a:ext cx="2514600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283464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A2E63"/>
                </a:solidFill>
                <a:latin typeface="Segoe UI"/>
              </a:rPr>
              <a:t>Proyectos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429000"/>
            <a:ext cx="211226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55976"/>
                </a:solidFill>
                <a:latin typeface="Segoe UI"/>
              </a:rPr>
              <a:t>Clientes, faenas ubicadas en un mapa, y proyectos con código automático.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514600"/>
            <a:ext cx="2514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4" y="2514600"/>
            <a:ext cx="2514600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83464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A2E63"/>
                </a:solidFill>
                <a:latin typeface="Segoe UI"/>
              </a:rPr>
              <a:t>Roles y accesos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429000"/>
            <a:ext cx="211226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55976"/>
                </a:solidFill>
                <a:latin typeface="Segoe UI"/>
              </a:rPr>
              <a:t>10 roles con permisos definidos; cada persona ve solo lo suyo.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2514600"/>
            <a:ext cx="2514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0536" y="2514600"/>
            <a:ext cx="2514600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1704" y="283464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A2E63"/>
                </a:solidFill>
                <a:latin typeface="Segoe UI"/>
              </a:rPr>
              <a:t>Cuentas y correos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3429000"/>
            <a:ext cx="211226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55976"/>
                </a:solidFill>
                <a:latin typeface="Segoe UI"/>
              </a:rPr>
              <a:t>Ingreso por usuario, verificación de correo y credenciales automáticas.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Inicio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87DA0"/>
                </a:solidFill>
                <a:latin typeface="Segoe UI"/>
              </a:rPr>
              <a:t>Qué hace y en qué 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Panel de entrada.  </a:t>
            </a:r>
            <a:r>
              <a:rPr sz="1350" b="0">
                <a:solidFill>
                  <a:srgbClr val="555976"/>
                </a:solidFill>
                <a:latin typeface="Segoe UI"/>
              </a:rPr>
              <a:t>Al ingresar, cada persona ve su tablero según su rol.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Mis solicitudes recientes.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Tus últimos reembolsos y horas extra con su estado (aprobado, pendiente, pagado, borrador).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Accesos directos.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Atajo a Registrar horas extra.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Configuración de la cuenta y progreso.  </a:t>
            </a:r>
            <a:r>
              <a:rPr sz="1350" b="0">
                <a:solidFill>
                  <a:srgbClr val="555976"/>
                </a:solidFill>
                <a:latin typeface="Segoe UI"/>
              </a:rPr>
              <a:t>Estado del perfil de cada usuario.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Notificaciones.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Avisos de cambios de estado en tus solicitudes.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65960"/>
            <a:ext cx="4480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0" y="1965960"/>
            <a:ext cx="4480560" cy="384048"/>
          </a:xfrm>
          <a:prstGeom prst="rect">
            <a:avLst/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20299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Inicio · tablero por rol</a:t>
            </a:r>
          </a:p>
        </p:txBody>
      </p:sp>
      <p:pic>
        <p:nvPicPr>
          <p:cNvPr id="10" name="Picture 9" descr="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532888"/>
            <a:ext cx="4151376" cy="2594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Finanzas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87DA0"/>
                </a:solidFill>
                <a:latin typeface="Segoe UI"/>
              </a:rPr>
              <a:t>Qué hace y en qué 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Vista general.  </a:t>
            </a:r>
            <a:r>
              <a:rPr sz="1350" b="0">
                <a:solidFill>
                  <a:srgbClr val="555976"/>
                </a:solidFill>
                <a:latin typeface="Segoe UI"/>
              </a:rPr>
              <a:t>Indicadores del mes (cierre día 20), alertas de pendientes y tabla filtrable por trabajador, fecha, mes, proyecto y cliente.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Reembolsos.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Se toma foto de la boleta y el sistema completa los datos (lectura automática). Categoría Vehículos pide vehículo y subcategoría.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Horas extra.  </a:t>
            </a:r>
            <a:r>
              <a:rPr sz="1350" b="0">
                <a:solidFill>
                  <a:srgbClr val="555976"/>
                </a:solidFill>
                <a:latin typeface="Segoe UI"/>
              </a:rPr>
              <a:t>Hora de inicio y término; si falta el término queda como borrador. Fecha según el rol, proyecto y 'autorizado por'.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Flujo de aprobación.  </a:t>
            </a:r>
            <a:r>
              <a:rPr sz="1350" b="0">
                <a:solidFill>
                  <a:srgbClr val="555976"/>
                </a:solidFill>
                <a:latin typeface="Segoe UI"/>
              </a:rPr>
              <a:t>Crear → aprobar → registrar pago → imprimir respaldo. El rechazo guarda el motivo.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Impresión en lote.  </a:t>
            </a:r>
            <a:r>
              <a:rPr sz="1350" b="0">
                <a:solidFill>
                  <a:srgbClr val="555976"/>
                </a:solidFill>
                <a:latin typeface="Segoe UI"/>
              </a:rPr>
              <a:t>Descarga de las boletas para respaldo físico (exclusivo de finanzas).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65960"/>
            <a:ext cx="4480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0" y="1965960"/>
            <a:ext cx="4480560" cy="384048"/>
          </a:xfrm>
          <a:prstGeom prst="rect">
            <a:avLst/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20299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Finanzas · vista general</a:t>
            </a:r>
          </a:p>
        </p:txBody>
      </p:sp>
      <p:pic>
        <p:nvPicPr>
          <p:cNvPr id="10" name="Picture 9" descr="shot-finanz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532888"/>
            <a:ext cx="4151376" cy="2594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Proyectos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87DA0"/>
                </a:solidFill>
                <a:latin typeface="Segoe UI"/>
              </a:rPr>
              <a:t>Qué hace y en qué 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Estructura Cliente → Faena → Proyecto.  </a:t>
            </a:r>
            <a:r>
              <a:rPr sz="1350" b="0">
                <a:solidFill>
                  <a:srgbClr val="555976"/>
                </a:solidFill>
                <a:latin typeface="Segoe UI"/>
              </a:rPr>
              <a:t>Cada cliente tiene faenas y cada faena, proyectos.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Crear faena.  </a:t>
            </a:r>
            <a:r>
              <a:rPr sz="1350" b="0">
                <a:solidFill>
                  <a:srgbClr val="555976"/>
                </a:solidFill>
                <a:latin typeface="Segoe UI"/>
              </a:rPr>
              <a:t>Nombre y ubicación en un mapa (poner el pin o escribir la dirección). El código se genera solo: ALB-A, ALB-B…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Crear proyecto.  </a:t>
            </a:r>
            <a:r>
              <a:rPr sz="1350" b="0">
                <a:solidFill>
                  <a:srgbClr val="555976"/>
                </a:solidFill>
                <a:latin typeface="Segoe UI"/>
              </a:rPr>
              <a:t>Fecha de inicio y término, código de contrato, administrador de proyecto (solo roles habilitados) y código automático ALB-A-1…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Vista del proyecto.  </a:t>
            </a:r>
            <a:r>
              <a:rPr sz="1350" b="0">
                <a:solidFill>
                  <a:srgbClr val="555976"/>
                </a:solidFill>
                <a:latin typeface="Segoe UI"/>
              </a:rPr>
              <a:t>Avance, documentos y equipo (se amplía en la Fase 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65960"/>
            <a:ext cx="4480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0" y="1965960"/>
            <a:ext cx="4480560" cy="384048"/>
          </a:xfrm>
          <a:prstGeom prst="rect">
            <a:avLst/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20299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Proyectos · clientes y faenas</a:t>
            </a:r>
          </a:p>
        </p:txBody>
      </p:sp>
      <p:pic>
        <p:nvPicPr>
          <p:cNvPr id="10" name="Picture 9" descr="shot-proye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532888"/>
            <a:ext cx="4151376" cy="2594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87DA0"/>
                </a:solidFill>
                <a:latin typeface="Segoe UI"/>
              </a:rPr>
              <a:t>Qué hace y en qué 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Vehículos.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Ficha de cada vehículo de la flota.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Checklist de inspección.  </a:t>
            </a:r>
            <a:r>
              <a:rPr sz="1350" b="0">
                <a:solidFill>
                  <a:srgbClr val="555976"/>
                </a:solidFill>
                <a:latin typeface="Segoe UI"/>
              </a:rPr>
              <a:t>Plantilla de revisión (motor, frenos, neumáticos, luces, kilometraje…), ejecución con validación y respaldo en PDF.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Documentos.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Documentación asociada a cada activo, con vencimientos.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Bodegas e insumos.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Control de stock y movimientos (se profundiza en la Fase 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65960"/>
            <a:ext cx="4480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0" y="1965960"/>
            <a:ext cx="4480560" cy="384048"/>
          </a:xfrm>
          <a:prstGeom prst="rect">
            <a:avLst/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20299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Recursos · vehículos y checklist</a:t>
            </a:r>
          </a:p>
        </p:txBody>
      </p:sp>
      <p:pic>
        <p:nvPicPr>
          <p:cNvPr id="10" name="Picture 9" descr="shot-recur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532888"/>
            <a:ext cx="4151376" cy="2594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Personas y permisos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87DA0"/>
                </a:solidFill>
                <a:latin typeface="Segoe UI"/>
              </a:rPr>
              <a:t>Qué hace y en qué 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Alta de usuarios.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El administrador crea la cuenta; la clave provisoria se entrega y se pide cambiarla al primer ingreso.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10 roles.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Admin de contrato, trabajador, admin de finanzas, analista de personas, analista de finanzas, asesor HSE, gerencia de proyectos, gerencia de personas, gerencia general y admin TI.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Perfil.  </a:t>
            </a:r>
            <a:r>
              <a:rPr sz="1350" b="0">
                <a:solidFill>
                  <a:srgbClr val="555976"/>
                </a:solidFill>
                <a:latin typeface="Segoe UI"/>
              </a:rPr>
              <a:t>Correo institucional y personal, cada uno verificado por código. Cambio de contraseña con contraseña actual + código.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50" b="1">
                <a:solidFill>
                  <a:srgbClr val="1B1D2E"/>
                </a:solidFill>
                <a:latin typeface="Segoe UI"/>
              </a:rPr>
              <a:t>Notificaciones.  </a:t>
            </a:r>
            <a:r>
              <a:rPr sz="1350" b="0">
                <a:solidFill>
                  <a:srgbClr val="555976"/>
                </a:solidFill>
                <a:latin typeface="Segoe UI"/>
              </a:rPr>
              <a:t>El usuario elige a qué correo verificado llegan.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65960"/>
            <a:ext cx="4480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0" y="1965960"/>
            <a:ext cx="4480560" cy="384048"/>
          </a:xfrm>
          <a:prstGeom prst="rect">
            <a:avLst/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20299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Perfil · correos y verificación</a:t>
            </a:r>
          </a:p>
        </p:txBody>
      </p:sp>
      <p:pic>
        <p:nvPicPr>
          <p:cNvPr id="10" name="Picture 9" descr="shot-per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532888"/>
            <a:ext cx="4151376" cy="25946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APLICACIÓN DE TERRENO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V-Metric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60350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400" b="1">
                <a:solidFill>
                  <a:srgbClr val="1B1D2E"/>
                </a:solidFill>
                <a:latin typeface="Segoe UI"/>
              </a:rPr>
              <a:t>Cubicación de pozas.  </a:t>
            </a:r>
            <a:r>
              <a:rPr sz="1400" b="0">
                <a:solidFill>
                  <a:srgbClr val="555976"/>
                </a:solidFill>
                <a:latin typeface="Segoe UI"/>
              </a:rPr>
              <a:t>Calcula el volumen de un reservorio a partir de su topografía (modelos de elevación del terreno).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400" b="1">
                <a:solidFill>
                  <a:srgbClr val="1B1D2E"/>
                </a:solidFill>
                <a:latin typeface="Segoe UI"/>
              </a:rPr>
              <a:t>Historial de mediciones.  </a:t>
            </a:r>
            <a:r>
              <a:rPr sz="1400" b="0">
                <a:solidFill>
                  <a:srgbClr val="555976"/>
                </a:solidFill>
                <a:latin typeface="Segoe UI"/>
              </a:rPr>
              <a:t>Cada cubicación queda registrada y comparable en el tiempo.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400" b="1">
                <a:solidFill>
                  <a:srgbClr val="1B1D2E"/>
                </a:solidFill>
                <a:latin typeface="Segoe UI"/>
              </a:rPr>
              <a:t>Centralizado.  </a:t>
            </a:r>
            <a:r>
              <a:rPr sz="1400" b="0">
                <a:solidFill>
                  <a:srgbClr val="555976"/>
                </a:solidFill>
                <a:latin typeface="Segoe UI"/>
              </a:rPr>
              <a:t>Las mediciones se guardan en el mismo servidor que GMT Link (migrado desde su sistema anterior).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400" b="1">
                <a:solidFill>
                  <a:srgbClr val="1B1D2E"/>
                </a:solidFill>
                <a:latin typeface="Segoe UI"/>
              </a:rPr>
              <a:t>Integración progresiva.  </a:t>
            </a:r>
            <a:r>
              <a:rPr sz="1400" b="0">
                <a:solidFill>
                  <a:srgbClr val="555976"/>
                </a:solidFill>
                <a:latin typeface="Segoe UI"/>
              </a:rPr>
              <a:t>En una etapa siguiente, las mediciones de terreno alimentarán la información de proyectos.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965960"/>
            <a:ext cx="4114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37947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87DA0"/>
                </a:solidFill>
                <a:latin typeface="Segoe UI"/>
              </a:rPr>
              <a:t>Captura de V-Metric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EL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Implementación por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976"/>
                </a:solidFill>
                <a:latin typeface="Segoe UI"/>
              </a:rPr>
              <a:t>No entregamos todo de una vez. Cada etapa se libera, se prueba en operación real, se recoge feedback y se corrige antes de abrir la siguiente.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18288"/>
          </a:xfrm>
          <a:prstGeom prst="rect">
            <a:avLst/>
          </a:prstGeom>
          <a:solidFill>
            <a:srgbClr val="E0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A2E63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44368"/>
            <a:ext cx="905256" cy="292608"/>
          </a:xfrm>
          <a:prstGeom prst="roundRect">
            <a:avLst/>
          </a:prstGeom>
          <a:solidFill>
            <a:srgbClr val="DD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00" b="1">
                <a:solidFill>
                  <a:srgbClr val="2E7D5B"/>
                </a:solidFill>
                <a:latin typeface="Segoe UI"/>
              </a:rPr>
              <a:t>En pruebas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04872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2E63"/>
                </a:solidFill>
                <a:latin typeface="Segoe UI"/>
              </a:rPr>
              <a:t>Base + Finanzas + Proyectos  ·  MVP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7889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55976"/>
                </a:solidFill>
                <a:latin typeface="Segoe UI"/>
              </a:rPr>
              <a:t>Roles y accesos, reembolsos y horas extra, cartera de proyectos y faenas, perfil y correos. Se prueba con cuentas ficticias.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10128"/>
            <a:ext cx="10515600" cy="18288"/>
          </a:xfrm>
          <a:prstGeom prst="rect">
            <a:avLst/>
          </a:prstGeom>
          <a:solidFill>
            <a:srgbClr val="E0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447288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A2E63"/>
                </a:solidFill>
                <a:latin typeface="Segoe UI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68496"/>
            <a:ext cx="827532" cy="292608"/>
          </a:xfrm>
          <a:prstGeom prst="roundRect">
            <a:avLst/>
          </a:prstGeom>
          <a:solidFill>
            <a:srgbClr val="F3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00" b="1">
                <a:solidFill>
                  <a:srgbClr val="B5842B"/>
                </a:solidFill>
                <a:latin typeface="Segoe UI"/>
              </a:rPr>
              <a:t>Siguiente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42900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2E63"/>
                </a:solidFill>
                <a:latin typeface="Segoe UI"/>
              </a:rPr>
              <a:t>Terreno y operación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813048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55976"/>
                </a:solidFill>
                <a:latin typeface="Segoe UI"/>
              </a:rPr>
              <a:t>Proyectos completo (documentos HSE y Calidad, tareas y avance), Recursos (vehículos, checklists y bodegas) y gestión de personas.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34256"/>
            <a:ext cx="10515600" cy="18288"/>
          </a:xfrm>
          <a:prstGeom prst="rect">
            <a:avLst/>
          </a:prstGeom>
          <a:solidFill>
            <a:srgbClr val="E0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71416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A2E63"/>
                </a:solidFill>
                <a:latin typeface="Segoe UI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92624"/>
            <a:ext cx="672084" cy="292608"/>
          </a:xfrm>
          <a:prstGeom prst="roundRect">
            <a:avLst/>
          </a:prstGeom>
          <a:solidFill>
            <a:srgbClr val="E7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00" b="1">
                <a:solidFill>
                  <a:srgbClr val="787DA0"/>
                </a:solidFill>
                <a:latin typeface="Segoe UI"/>
              </a:rPr>
              <a:t>Después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5312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2E63"/>
                </a:solidFill>
                <a:latin typeface="Segoe UI"/>
              </a:rPr>
              <a:t>Cuentas reales y despliegue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837176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55976"/>
                </a:solidFill>
                <a:latin typeface="Segoe UI"/>
              </a:rPr>
              <a:t>Alta de las personas reales, envío de credenciales por correo y puesta en marcha con datos productivos.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358384"/>
            <a:ext cx="10515600" cy="18288"/>
          </a:xfrm>
          <a:prstGeom prst="rect">
            <a:avLst/>
          </a:prstGeom>
          <a:solidFill>
            <a:srgbClr val="E0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495544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A2E63"/>
                </a:solidFill>
                <a:latin typeface="Segoe UI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6016752"/>
            <a:ext cx="982980" cy="292608"/>
          </a:xfrm>
          <a:prstGeom prst="roundRect">
            <a:avLst/>
          </a:prstGeom>
          <a:solidFill>
            <a:srgbClr val="E7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000" b="1">
                <a:solidFill>
                  <a:srgbClr val="787DA0"/>
                </a:solidFill>
                <a:latin typeface="Segoe UI"/>
              </a:rPr>
              <a:t>Integración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77256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2E63"/>
                </a:solidFill>
                <a:latin typeface="Segoe UI"/>
              </a:rPr>
              <a:t>V-Metric integrado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61304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55976"/>
                </a:solidFill>
                <a:latin typeface="Segoe UI"/>
              </a:rPr>
              <a:t>El cubicador de pozas conectado de punta a punta con GMT Link.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CONFIANZA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Seguridad de la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976"/>
                </a:solidFill>
                <a:latin typeface="Segoe UI"/>
              </a:rPr>
              <a:t>Medidas que protegen las cuentas, los datos y los archivos de la empresa.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212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00" b="1">
                <a:solidFill>
                  <a:srgbClr val="1B1D2E"/>
                </a:solidFill>
                <a:latin typeface="Segoe UI"/>
              </a:rPr>
              <a:t>Contraseñas protegidas.  </a:t>
            </a:r>
            <a:r>
              <a:rPr sz="1300" b="0">
                <a:solidFill>
                  <a:srgbClr val="555976"/>
                </a:solidFill>
                <a:latin typeface="Segoe UI"/>
              </a:rPr>
              <a:t>Se guardan cifradas (bcrypt), nunca en texto. La clave provisoria se cambia al primer ingreso.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00" b="1">
                <a:solidFill>
                  <a:srgbClr val="1B1D2E"/>
                </a:solidFill>
                <a:latin typeface="Segoe UI"/>
              </a:rPr>
              <a:t>Ingreso seguro.  </a:t>
            </a:r>
            <a:r>
              <a:rPr sz="1300" b="0">
                <a:solidFill>
                  <a:srgbClr val="555976"/>
                </a:solidFill>
                <a:latin typeface="Segoe UI"/>
              </a:rPr>
              <a:t>Sesión con token firmado; los usuarios suspendidos quedan bloqueados de inmediato.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00" b="1">
                <a:solidFill>
                  <a:srgbClr val="1B1D2E"/>
                </a:solidFill>
                <a:latin typeface="Segoe UI"/>
              </a:rPr>
              <a:t>Anti fuerza bruta.  </a:t>
            </a:r>
            <a:r>
              <a:rPr sz="1300" b="0">
                <a:solidFill>
                  <a:srgbClr val="555976"/>
                </a:solidFill>
                <a:latin typeface="Segoe UI"/>
              </a:rPr>
              <a:t>Límite de intentos de ingreso por minuto.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00" b="1">
                <a:solidFill>
                  <a:srgbClr val="1B1D2E"/>
                </a:solidFill>
                <a:latin typeface="Segoe UI"/>
              </a:rPr>
              <a:t>Verificación por código.  </a:t>
            </a:r>
            <a:r>
              <a:rPr sz="1300" b="0">
                <a:solidFill>
                  <a:srgbClr val="555976"/>
                </a:solidFill>
                <a:latin typeface="Segoe UI"/>
              </a:rPr>
              <a:t>Cambiar correo o contraseña exige un código enviado al correo, que expira en 5 minutos y se hashea.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8600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00" b="1">
                <a:solidFill>
                  <a:srgbClr val="1B1D2E"/>
                </a:solidFill>
                <a:latin typeface="Segoe UI"/>
              </a:rPr>
              <a:t>Permisos por rol.  </a:t>
            </a:r>
            <a:r>
              <a:rPr sz="1300" b="0">
                <a:solidFill>
                  <a:srgbClr val="555976"/>
                </a:solidFill>
                <a:latin typeface="Segoe UI"/>
              </a:rPr>
              <a:t>Cada persona accede solo a lo que su rol permite (10 roles).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00" b="1">
                <a:solidFill>
                  <a:srgbClr val="1B1D2E"/>
                </a:solidFill>
                <a:latin typeface="Segoe UI"/>
              </a:rPr>
              <a:t>Archivos privados.  </a:t>
            </a:r>
            <a:r>
              <a:rPr sz="1300" b="0">
                <a:solidFill>
                  <a:srgbClr val="555976"/>
                </a:solidFill>
                <a:latin typeface="Segoe UI"/>
              </a:rPr>
              <a:t>Boletas, documentos y topografías en almacenamiento privado (Cloudflare R2); se acceden con enlaces temporales firmados.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00" b="1">
                <a:solidFill>
                  <a:srgbClr val="1B1D2E"/>
                </a:solidFill>
                <a:latin typeface="Segoe UI"/>
              </a:rPr>
              <a:t>Conexión cifrada.  </a:t>
            </a:r>
            <a:r>
              <a:rPr sz="1300" b="0">
                <a:solidFill>
                  <a:srgbClr val="555976"/>
                </a:solidFill>
                <a:latin typeface="Segoe UI"/>
              </a:rPr>
              <a:t>Todo el tráfico va por HTTPS, con cabeceras de seguridad y acceso restringido a los dominios propios.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•  </a:t>
            </a:r>
            <a:r>
              <a:rPr sz="1300" b="1">
                <a:solidFill>
                  <a:srgbClr val="1B1D2E"/>
                </a:solidFill>
                <a:latin typeface="Segoe UI"/>
              </a:rPr>
              <a:t>Base de datos gestionada.  </a:t>
            </a:r>
            <a:r>
              <a:rPr sz="1300" b="0">
                <a:solidFill>
                  <a:srgbClr val="555976"/>
                </a:solidFill>
                <a:latin typeface="Segoe UI"/>
              </a:rPr>
              <a:t>Datos en Postgres administrado, con los respaldos de la plataforma.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87DA0"/>
                </a:solidFill>
                <a:latin typeface="Segoe UI"/>
              </a:rP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A2E63"/>
                </a:solidFill>
                <a:latin typeface="Segoe UI"/>
              </a:rPr>
              <a:t>Costos de mantención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976"/>
                </a:solidFill>
                <a:latin typeface="Segoe UI"/>
              </a:rPr>
              <a:t>Gasto mensual de la infraestructura en la nube. Hoy, en escala piloto, es bajo.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566928"/>
          </a:xfrm>
          <a:prstGeom prst="rect">
            <a:avLst/>
          </a:prstGeom>
          <a:solidFill>
            <a:srgbClr val="2A2E63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0487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Servicio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404872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CBEC"/>
                </a:solidFill>
                <a:latin typeface="Segoe UI"/>
              </a:rPr>
              <a:t>Para 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04872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Costo aprox. / 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52928"/>
            <a:ext cx="10515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D2E"/>
                </a:solidFill>
                <a:latin typeface="Segoe UI"/>
              </a:rPr>
              <a:t>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97180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976"/>
                </a:solidFill>
                <a:latin typeface="Segoe UI"/>
              </a:rPr>
              <a:t>Servidores de la app y base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1D2E"/>
                </a:solidFill>
                <a:latin typeface="Segoe UI"/>
              </a:rPr>
              <a:t>USD 25 – 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19856"/>
            <a:ext cx="10515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538728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D2E"/>
                </a:solidFill>
                <a:latin typeface="Segoe UI"/>
              </a:rPr>
              <a:t>Cloudflare 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538728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976"/>
                </a:solidFill>
                <a:latin typeface="Segoe UI"/>
              </a:rPr>
              <a:t>Archivos: boletas, documentos, topografías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38728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1D2E"/>
                </a:solidFill>
                <a:latin typeface="Segoe UI"/>
              </a:rPr>
              <a:t>USD 0  (tramo gratis)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86784"/>
            <a:ext cx="10515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10565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D2E"/>
                </a:solidFill>
                <a:latin typeface="Segoe UI"/>
              </a:rPr>
              <a:t>Brevo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105656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976"/>
                </a:solidFill>
                <a:latin typeface="Segoe UI"/>
              </a:rPr>
              <a:t>Correos: verificación, credenciales, avisos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105656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1D2E"/>
                </a:solidFill>
                <a:latin typeface="Segoe UI"/>
              </a:rPr>
              <a:t>USD 0  (300/día gratis)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553712"/>
            <a:ext cx="10515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672584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D2E"/>
                </a:solidFill>
                <a:latin typeface="Segoe UI"/>
              </a:rPr>
              <a:t>NVIDIA (lectura de boletas)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672584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976"/>
                </a:solidFill>
                <a:latin typeface="Segoe UI"/>
              </a:rPr>
              <a:t>Lectura automática de boletas por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672584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1D2E"/>
                </a:solidFill>
                <a:latin typeface="Segoe UI"/>
              </a:rPr>
              <a:t>USD 0 hoy  ·  pago por uso a escala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120640"/>
            <a:ext cx="10515600" cy="566928"/>
          </a:xfrm>
          <a:prstGeom prst="rect">
            <a:avLst/>
          </a:prstGeom>
          <a:solidFill>
            <a:srgbClr val="ECEEF7"/>
          </a:solidFill>
          <a:ln w="12700">
            <a:solidFill>
              <a:srgbClr val="E0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23951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A2E63"/>
                </a:solidFill>
                <a:latin typeface="Segoe UI"/>
              </a:rPr>
              <a:t>Total estimado hoy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239512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5239512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A2E63"/>
                </a:solidFill>
                <a:latin typeface="Segoe UI"/>
              </a:rPr>
              <a:t>≈ USD 25 – 45 / 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704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87DA0"/>
                </a:solidFill>
                <a:latin typeface="Segoe UI"/>
              </a:rPr>
              <a:t>A tener en cuenta al crecer:  el servidor de pruebas (web-dev) se puede apagar cuando no se usa para ahorrar; y conviene poner un límite diario a la lectura de boletas por IA para que el costo no se dispare con el volumen.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Hoy estamos en la Fase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D3D5EE"/>
                </a:solidFill>
                <a:latin typeface="Segoe UI"/>
              </a:rPr>
              <a:t>Una plataforma real, en la nube, lista para que el equipo la pruebe y nos diga qué ajustar. Desde ahí, avanzamos etapa por etapa.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7C9EC"/>
                </a:solidFill>
                <a:latin typeface="Segoe UI"/>
              </a:rPr>
              <a:t>GMT Digital  ·  GMT Link + V-Metric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1385</Words>
  <Application>Microsoft Office PowerPoint</Application>
  <PresentationFormat>Panorámica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Apalmo</cp:lastModifiedBy>
  <cp:revision>2</cp:revision>
  <dcterms:created xsi:type="dcterms:W3CDTF">2013-01-27T09:14:16Z</dcterms:created>
  <dcterms:modified xsi:type="dcterms:W3CDTF">2026-07-13T15:10:41Z</dcterms:modified>
  <cp:category/>
</cp:coreProperties>
</file>